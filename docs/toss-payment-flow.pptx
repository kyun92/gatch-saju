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atch-saju.onato.co.kr/landing" TargetMode="Externa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atch-saju.onato.co.kr/login" TargetMode="Externa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gatch-saju.onato.co.kr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atch-saju.onato.co.kr/coin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tosspayments.com (SDK Popup)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gatch-saju.onato.co.kr/coins/success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gatch-saju.onato.co.kr/coins/fail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hyperlink" Target="https://gatch-saju.onato.co.kr/reading/{id}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gatch-saju.onato.co.kr/mypage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9A70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6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TOSS PAYMENTS · PAYMENT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645920"/>
            <a:ext cx="11064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결제경로 안내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3840480"/>
            <a:ext cx="2286000" cy="0"/>
          </a:xfrm>
          <a:prstGeom prst="lin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411480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운영사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56032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온아토 (대표 임승균)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452628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사업자등록번호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560320" y="45262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607-29-96690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493776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URL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56032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https://gatch-saju.onato.co.kr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8640" y="534924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제출일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560320" y="53492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2026-04-22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개요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Service Overview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828800"/>
            <a:ext cx="457200" cy="457200"/>
          </a:xfrm>
          <a:prstGeom prst="ellipse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288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17373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3체계 교차분석 감정 서비스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21945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사주팔자 · 자미두수 · 서양점성술을 동시 해석해 일관성 높은 결과 제공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880360"/>
            <a:ext cx="457200" cy="457200"/>
          </a:xfrm>
          <a:prstGeom prst="ellipse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880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3040" y="27889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1계정 N캐릭터 구조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3246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본인·가족·지인의 생년월일시로 "캐릭터"를 만들어 맞춤 감정 수행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31520" y="3931920"/>
            <a:ext cx="457200" cy="457200"/>
          </a:xfrm>
          <a:prstGeom prst="ellipse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9319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63040" y="384048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코인 지갑 결제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42976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선충전 방식. 코인 1개로 유료 감정 1건 이용. 유효기간 없음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4983480"/>
            <a:ext cx="457200" cy="457200"/>
          </a:xfrm>
          <a:prstGeom prst="ellipse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63040" y="489204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진입점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63040" y="5349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일일운세와 캐릭터 생성은 무료로 제공하여 저장벽 허용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사업자 정보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Business Info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1828800"/>
          <a:ext cx="941832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66751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70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상호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온아토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70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대표자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임승균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70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사업자등록번호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607-29-96690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70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사업장 주소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경기도 용인시 기흥구 신정로 25, 108동 2205호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70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연락처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010-6889-8909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9A704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이메일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lsk9105@gmail.com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371600" y="5760720"/>
            <a:ext cx="9418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토스페이먼츠 심사에 제출하는 사업자 기본정보입니다.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플로우 (8단계)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End-to-end User Journey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" y="219456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F0E8"/>
          </a:solidFill>
          <a:ln w="25400">
            <a:solidFill>
              <a:srgbClr val="9A7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22402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11480" y="26060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랜딩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2926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비로그인 진입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828800" y="2606040"/>
            <a:ext cx="274320" cy="274320"/>
          </a:xfrm>
          <a:prstGeom prst="rightArrow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219456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F0E8"/>
          </a:solidFill>
          <a:ln w="25400">
            <a:solidFill>
              <a:srgbClr val="9A7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22402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291840" y="26060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91840" y="2926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소셜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9160" y="2606040"/>
            <a:ext cx="274320" cy="274320"/>
          </a:xfrm>
          <a:prstGeom prst="rightArrow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219456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F0E8"/>
          </a:solidFill>
          <a:ln w="25400">
            <a:solidFill>
              <a:srgbClr val="9A70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72200" y="22402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172200" y="26060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생성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172200" y="2926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온보딩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589520" y="2606040"/>
            <a:ext cx="274320" cy="274320"/>
          </a:xfrm>
          <a:prstGeom prst="rightArrow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52560" y="219456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F0E8"/>
          </a:solidFill>
          <a:ln w="25400">
            <a:solidFill>
              <a:srgbClr val="9A7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52560" y="224028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052560" y="26060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허브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052560" y="2926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잔액 배지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11480" y="41148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F0E8"/>
          </a:solidFill>
          <a:ln w="25400">
            <a:solidFill>
              <a:srgbClr val="9A7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148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11480" y="45262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지갑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11480" y="48463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/coins 패키지 선택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828800" y="4526280"/>
            <a:ext cx="274320" cy="274320"/>
          </a:xfrm>
          <a:prstGeom prst="rightArrow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91840" y="41148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F0E8"/>
          </a:solidFill>
          <a:ln w="25400">
            <a:solidFill>
              <a:srgbClr val="9A704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9184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91840" y="45262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 결제창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291840" y="48463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SDK 호출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09160" y="4526280"/>
            <a:ext cx="274320" cy="274320"/>
          </a:xfrm>
          <a:prstGeom prst="rightArrow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72200" y="41148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F0E8"/>
          </a:solidFill>
          <a:ln w="25400">
            <a:solidFill>
              <a:srgbClr val="9A704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7220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172200" y="45262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충전 완료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172200" y="48463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/coins/success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589520" y="4526280"/>
            <a:ext cx="274320" cy="274320"/>
          </a:xfrm>
          <a:prstGeom prst="rightArrow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052560" y="4114800"/>
            <a:ext cx="1371600" cy="1097280"/>
          </a:xfrm>
          <a:prstGeom prst="roundRect">
            <a:avLst>
              <a:gd name="adj" fmla="val 8333"/>
            </a:avLst>
          </a:prstGeom>
          <a:solidFill>
            <a:srgbClr val="F5F0E8"/>
          </a:solidFill>
          <a:ln w="25400">
            <a:solidFill>
              <a:srgbClr val="9A704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052560" y="416052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052560" y="45262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감정 뽑기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9052560" y="484632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1코인 차감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0" y="3383280"/>
            <a:ext cx="1216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홈 — 비로그인 진입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Landing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286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B070"/>
            </a:solidFill>
            <a:prstDash val="solid"/>
          </a:ln>
        </p:spPr>
      </p:sp>
      <p:pic>
        <p:nvPicPr>
          <p:cNvPr id="5" name="Image 0" descr="/Users/kyun/Desktop/project/fortune_imgessage/docs/screenshots/05-land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2286000" cy="4754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0" y="17373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000" dirty="0"/>
          </a:p>
        </p:txBody>
      </p:sp>
      <p:sp>
        <p:nvSpPr>
          <p:cNvPr id="7" name="Text 4">
            <a:hlinkClick r:id="rId2" tooltip=""/>
          </p:cNvPr>
          <p:cNvSpPr/>
          <p:nvPr/>
        </p:nvSpPr>
        <p:spPr>
          <a:xfrm>
            <a:off x="3200400" y="201168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https://gatch-saju.onato.co.kr/landing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00400" y="2560320"/>
            <a:ext cx="8503920" cy="0"/>
          </a:xfrm>
          <a:prstGeom prst="line">
            <a:avLst/>
          </a:prstGeom>
          <a:noFill/>
          <a:ln w="12700">
            <a:solidFill>
              <a:srgbClr val="D4B07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0" y="274320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200400" y="3017520"/>
            <a:ext cx="8503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비로그인 방문자가 처음 보는 화면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소개 + 카카오 로그인 CTA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하단에 "요금 안내" 링크로 상품 페이지 진입 가능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요금 안내 — 상품·가격 공개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Pricing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286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B070"/>
            </a:solidFill>
            <a:prstDash val="solid"/>
          </a:ln>
        </p:spPr>
      </p:sp>
      <p:pic>
        <p:nvPicPr>
          <p:cNvPr id="5" name="Image 0" descr="/Users/kyun/Desktop/project/fortune_imgessage/docs/screenshots/06-pric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2286000" cy="4754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0" y="17373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3200400" y="201168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https://gatch-saju.onato.co.kr/pricing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00400" y="2560320"/>
            <a:ext cx="8503920" cy="0"/>
          </a:xfrm>
          <a:prstGeom prst="line">
            <a:avLst/>
          </a:prstGeom>
          <a:noFill/>
          <a:ln w="12700">
            <a:solidFill>
              <a:srgbClr val="D4B07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0" y="274320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코인 패키지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0" y="3108960"/>
          <a:ext cx="548640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16459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수량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A7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가격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A70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할인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A704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1코인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990원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3코인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2,700원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-9%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5코인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4,200원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-15%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10코인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7,900원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C24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-20%</a:t>
                      </a:r>
                      <a:endParaRPr lang="en-US" sz="13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4B07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0" y="5486400"/>
            <a:ext cx="8503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비로그인 상태로 /pricing 에서 상품·가격 확인 가능.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결제 버튼은 로그인 유도로 연결됩니다.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로그인 (카카오)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 Login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2860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B070"/>
            </a:solidFill>
            <a:prstDash val="solid"/>
          </a:ln>
        </p:spPr>
      </p:sp>
      <p:pic>
        <p:nvPicPr>
          <p:cNvPr id="5" name="Image 0" descr="/Users/kyun/Desktop/project/fortune_imgessage/docs/screenshots/07-log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2286000" cy="4754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0" y="17373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000" dirty="0"/>
          </a:p>
        </p:txBody>
      </p:sp>
      <p:sp>
        <p:nvSpPr>
          <p:cNvPr id="7" name="Text 4">
            <a:hlinkClick r:id="rId2" tooltip=""/>
          </p:cNvPr>
          <p:cNvSpPr/>
          <p:nvPr/>
        </p:nvSpPr>
        <p:spPr>
          <a:xfrm>
            <a:off x="3200400" y="201168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https://gatch-saju.onato.co.kr/login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3200400" y="2560320"/>
            <a:ext cx="8503920" cy="0"/>
          </a:xfrm>
          <a:prstGeom prst="line">
            <a:avLst/>
          </a:prstGeom>
          <a:noFill/>
          <a:ln w="12700">
            <a:solidFill>
              <a:srgbClr val="D4B07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200400" y="274320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200400" y="3017520"/>
            <a:ext cx="8503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 계정으로 소셜 로그인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네이버·구글은 현재 "준비 중" 상태 (비활성)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NextAuth.js 기반, Redirect URI는 카카오 콘솔에 등록됨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허브 — 로그인 후 메인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Hub · Balance Badge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286000" cy="4754880"/>
          </a:xfrm>
          <a:prstGeom prst="rect">
            <a:avLst/>
          </a:prstGeom>
          <a:solidFill>
            <a:srgbClr val="E8E0D0"/>
          </a:solidFill>
          <a:ln w="12700">
            <a:solidFill>
              <a:srgbClr val="D4B07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48640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여기에 스크린샷 삽입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40690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89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https://gatch-saju.onato.co.kr/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4389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9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(1200 × 900 권장 · 프로덕션에서 실제 화면 캡처)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0" y="17373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0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3200400" y="201168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https://gatch-saju.onato.co.kr/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0" y="2560320"/>
            <a:ext cx="8503920" cy="0"/>
          </a:xfrm>
          <a:prstGeom prst="line">
            <a:avLst/>
          </a:prstGeom>
          <a:noFill/>
          <a:ln w="12700">
            <a:solidFill>
              <a:srgbClr val="D4B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274320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0" y="3017520"/>
            <a:ext cx="8503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헤더에 현재 코인 잔액 배지 (✮ N) 항시 노출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캐릭터 슬롯 리스트 — 본인/가족/지인 구분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배지 클릭 시 /coins 지갑 페이지로 이동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지갑 — 패키지 선택 (실결제)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Wallet · Purchase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286000" cy="4754880"/>
          </a:xfrm>
          <a:prstGeom prst="rect">
            <a:avLst/>
          </a:prstGeom>
          <a:solidFill>
            <a:srgbClr val="E8E0D0"/>
          </a:solidFill>
          <a:ln w="12700">
            <a:solidFill>
              <a:srgbClr val="D4B07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48640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여기에 스크린샷 삽입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40690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89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https://gatch-saju.onato.co.kr/coins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4389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9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(1200 × 900 권장 · 프로덕션에서 실제 화면 캡처)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0" y="17373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0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3200400" y="201168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https://gatch-saju.onato.co.kr/coins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0" y="2560320"/>
            <a:ext cx="8503920" cy="0"/>
          </a:xfrm>
          <a:prstGeom prst="line">
            <a:avLst/>
          </a:prstGeom>
          <a:noFill/>
          <a:ln w="12700">
            <a:solidFill>
              <a:srgbClr val="D4B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274320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0" y="3017520"/>
            <a:ext cx="8503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 코인 패키지 카드 (1·3·5·10)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클릭 즉시 토스페이먼츠 결제창 호출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상단에 현재 잔액 표시, 하단에 환불 정책 요약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토스페이먼츠 결제창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Toss Payments SDK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286000" cy="4754880"/>
          </a:xfrm>
          <a:prstGeom prst="rect">
            <a:avLst/>
          </a:prstGeom>
          <a:solidFill>
            <a:srgbClr val="E8E0D0"/>
          </a:solidFill>
          <a:ln w="12700">
            <a:solidFill>
              <a:srgbClr val="D4B07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48640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여기에 스크린샷 삽입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40690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89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tosspayments.com (SDK Popup)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4389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9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(1200 × 900 권장 · 프로덕션에서 실제 화면 캡처)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0" y="17373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0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3200400" y="201168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tosspayments.com (SDK Popup)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0" y="2560320"/>
            <a:ext cx="8503920" cy="0"/>
          </a:xfrm>
          <a:prstGeom prst="line">
            <a:avLst/>
          </a:prstGeom>
          <a:noFill/>
          <a:ln w="12700">
            <a:solidFill>
              <a:srgbClr val="D4B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274320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0" y="3017520"/>
            <a:ext cx="8503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Toss Payments SDK로 호출되는 공식 결제창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 · 간편결제 · 계좌이체 등 사용자가 수단 선택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customerKey는 서비스 내 사용자 ID로 전달하여 이력 추적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orderName은 "갓챠사주 코인 N개" 형식으로 전달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 충전 완료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Charge Complete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286000" cy="4754880"/>
          </a:xfrm>
          <a:prstGeom prst="rect">
            <a:avLst/>
          </a:prstGeom>
          <a:solidFill>
            <a:srgbClr val="E8E0D0"/>
          </a:solidFill>
          <a:ln w="12700">
            <a:solidFill>
              <a:srgbClr val="D4B07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48640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여기에 스크린샷 삽입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40690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89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https://gatch-saju.onato.co.kr/coins/success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4389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9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(1200 × 900 권장 · 프로덕션에서 실제 화면 캡처)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0" y="17373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0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3200400" y="201168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https://gatch-saju.onato.co.kr/coins/success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0" y="2560320"/>
            <a:ext cx="8503920" cy="0"/>
          </a:xfrm>
          <a:prstGeom prst="line">
            <a:avLst/>
          </a:prstGeom>
          <a:noFill/>
          <a:ln w="12700">
            <a:solidFill>
              <a:srgbClr val="D4B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274320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0" y="3017520"/>
            <a:ext cx="8503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Toss 결제 승인 후 /api/payments/confirm 호출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users.coins 증가 + coin_transactions 이력 기록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사용자에게 충전 수량 · 현재 잔액 · "뽑으러 가기" CTA 표시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returnTo 쿼리가 있으면 원래 경로로 자동 복귀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 결제 실패 화면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Payment Failure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286000" cy="4754880"/>
          </a:xfrm>
          <a:prstGeom prst="rect">
            <a:avLst/>
          </a:prstGeom>
          <a:solidFill>
            <a:srgbClr val="E8E0D0"/>
          </a:solidFill>
          <a:ln w="12700">
            <a:solidFill>
              <a:srgbClr val="D4B07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48640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여기에 스크린샷 삽입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40690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89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https://gatch-saju.onato.co.kr/coins/fail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4389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9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(1200 × 900 권장 · 프로덕션에서 실제 화면 캡처)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0" y="17373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0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3200400" y="201168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https://gatch-saju.onato.co.kr/coins/fail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0" y="2560320"/>
            <a:ext cx="8503920" cy="0"/>
          </a:xfrm>
          <a:prstGeom prst="line">
            <a:avLst/>
          </a:prstGeom>
          <a:noFill/>
          <a:ln w="12700">
            <a:solidFill>
              <a:srgbClr val="D4B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274320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0" y="3017520"/>
            <a:ext cx="8503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카드사 거절 · 결제 중단 · 시스템 오류 등 실패 케이스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코드 + 친절한 안내 문구 표시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"다시 시도" 버튼으로 /coins 재진입, 홈으로 링크 제공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 코인 소비 → 감정 결과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Reading Result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286000" cy="4754880"/>
          </a:xfrm>
          <a:prstGeom prst="rect">
            <a:avLst/>
          </a:prstGeom>
          <a:solidFill>
            <a:srgbClr val="E8E0D0"/>
          </a:solidFill>
          <a:ln w="12700">
            <a:solidFill>
              <a:srgbClr val="D4B07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48640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여기에 스크린샷 삽입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40690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89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https://gatch-saju.onato.co.kr/reading/{id}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4389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9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(1200 × 900 권장 · 프로덕션에서 실제 화면 캡처)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0" y="17373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0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3200400" y="201168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https://gatch-saju.onato.co.kr/reading/{id}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0" y="2560320"/>
            <a:ext cx="8503920" cy="0"/>
          </a:xfrm>
          <a:prstGeom prst="line">
            <a:avLst/>
          </a:prstGeom>
          <a:noFill/>
          <a:ln w="12700">
            <a:solidFill>
              <a:srgbClr val="D4B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274320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0" y="3017520"/>
            <a:ext cx="8503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충전된 코인으로 감정을 뽑으면 트랜잭션 내 1코인 차감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백그라운드에서 AI 감정 HTML 생성 (종합감정/년운/궁합 등)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 완료 후 결과 페이지에서 표·섹션으로 구조화하여 표시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스킬트리(/characters/{id})에서 이미 뽑은 감정 재열람 가능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정책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Refund Policy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73152" cy="868680"/>
          </a:xfrm>
          <a:prstGeom prst="rect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7373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7일 이내 미사용분 전액 환불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결제일 기준 7일 이내, 사용되지 않은 코인에 한해 전액 환불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73152" cy="868680"/>
          </a:xfrm>
          <a:prstGeom prst="rect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97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사용된 코인 환불 제한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1089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전자상거래법 제17조 제2항 제5호(디지털 콘텐츠 제공 개시) 적용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73152" cy="868680"/>
          </a:xfrm>
          <a:prstGeom prst="rect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6576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 환불 지원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" y="40690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일부만 사용한 경우 남은 코인 비율만큼 부분 환불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4617720"/>
            <a:ext cx="73152" cy="868680"/>
          </a:xfrm>
          <a:prstGeom prst="rect">
            <a:avLst/>
          </a:prstGeom>
          <a:solidFill>
            <a:srgbClr val="9A7040"/>
          </a:solidFill>
          <a:ln w="12700">
            <a:solidFill>
              <a:srgbClr val="9A70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6177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유효기간 없음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50292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충전한 코인은 회원 상태 유지 중 언제든 사용 가능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66560" y="1737360"/>
            <a:ext cx="4846320" cy="4114800"/>
          </a:xfrm>
          <a:prstGeom prst="roundRect">
            <a:avLst>
              <a:gd name="adj" fmla="val 2222"/>
            </a:avLst>
          </a:prstGeom>
          <a:solidFill>
            <a:srgbClr val="F5F0E8"/>
          </a:solidFill>
          <a:ln w="12700">
            <a:solidFill>
              <a:srgbClr val="D4B07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4944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 환불 계산식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949440" y="237744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금액 = 결제 금액 × (남은 코인 수 ÷ 구매한 코인 수)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949440" y="3291840"/>
            <a:ext cx="4480560" cy="0"/>
          </a:xfrm>
          <a:prstGeom prst="line">
            <a:avLst/>
          </a:prstGeom>
          <a:noFill/>
          <a:ln w="12700">
            <a:solidFill>
              <a:srgbClr val="D4B070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6949440" y="34747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적용 예시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949440" y="3840480"/>
            <a:ext cx="45720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5코인 4,200원 구매 → 2코인 사용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3코인 환불 대상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2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금액 = 4,200 × (3 ÷ 5) = 2,520원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 경로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Refund Flow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286000" cy="4754880"/>
          </a:xfrm>
          <a:prstGeom prst="rect">
            <a:avLst/>
          </a:prstGeom>
          <a:solidFill>
            <a:srgbClr val="E8E0D0"/>
          </a:solidFill>
          <a:ln w="12700">
            <a:solidFill>
              <a:srgbClr val="D4B07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548640" y="365760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89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여기에 스크린샷 삽입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40690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A89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https://gatch-saju.onato.co.kr/mypage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43891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98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(1200 × 900 권장 · 프로덕션에서 실제 화면 캡처)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0" y="173736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</a:t>
            </a:r>
            <a:endParaRPr lang="en-US" sz="10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3200400" y="201168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https://gatch-saju.onato.co.kr/mypage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0" y="2560320"/>
            <a:ext cx="8503920" cy="0"/>
          </a:xfrm>
          <a:prstGeom prst="line">
            <a:avLst/>
          </a:prstGeom>
          <a:noFill/>
          <a:ln w="12700">
            <a:solidFill>
              <a:srgbClr val="D4B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00400" y="2743200"/>
            <a:ext cx="8503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200400" y="3017520"/>
            <a:ext cx="850392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마이페이지 → 지갑 섹션 내 "환불 요청" 링크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 시 프리필된 이메일 양식 자동 작성 (가입 이메일·이름 포함)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고객센터 접수 후 /api/payments/cancel 호출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3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Toss cancelPayment API로 부분·전액 환불 처리 → 결제 수단 원복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고객센터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Customer Support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828800" y="1828800"/>
            <a:ext cx="8503920" cy="4114800"/>
          </a:xfrm>
          <a:prstGeom prst="roundRect">
            <a:avLst>
              <a:gd name="adj" fmla="val 3333"/>
            </a:avLst>
          </a:prstGeom>
          <a:solidFill>
            <a:srgbClr val="F5F0E8"/>
          </a:solidFill>
          <a:ln w="25400">
            <a:solidFill>
              <a:srgbClr val="9A70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194560" y="21945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06240" y="21945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임승균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2194560" y="28803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06240" y="28803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010-6889-8909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194560" y="3566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06240" y="35661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lsk9105@gmail.com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194560" y="42519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운영시간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06240" y="42519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평일 10:00 ~ 18:00 (주말·공휴일 제외)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194560" y="49377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704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답변 소요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06240" y="4937760"/>
            <a:ext cx="5943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C24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영업일 기준 1~2일 내 회신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14400" y="61264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갓챠사주는 이용자 문의를 성실하게 응대하며, 결제·환불 관련 사항은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i="1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영업일 기준 신속히 처리합니다.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갓챠사주 · 온아토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046720" y="649224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0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온아토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갓챠사주 결제경로 안내</dc:title>
  <dc:subject>PptxGenJS Presentation</dc:subject>
  <dc:creator>온아토</dc:creator>
  <cp:lastModifiedBy>온아토</cp:lastModifiedBy>
  <cp:revision>1</cp:revision>
  <dcterms:created xsi:type="dcterms:W3CDTF">2026-04-22T08:19:05Z</dcterms:created>
  <dcterms:modified xsi:type="dcterms:W3CDTF">2026-04-22T08:19:05Z</dcterms:modified>
</cp:coreProperties>
</file>